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1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855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0059068B-51B3-2242-BE85-8D7088111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1" y="0"/>
            <a:ext cx="9031458" cy="114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3925C6-7CD0-3A18-CF14-9C5BB7EAF77B}"/>
              </a:ext>
            </a:extLst>
          </p:cNvPr>
          <p:cNvSpPr txBox="1"/>
          <p:nvPr/>
        </p:nvSpPr>
        <p:spPr>
          <a:xfrm>
            <a:off x="991772" y="2016112"/>
            <a:ext cx="77583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 AND INTELLIGENT TRANSPORTATION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E5F78-05D2-F287-43A5-540153EA9085}"/>
              </a:ext>
            </a:extLst>
          </p:cNvPr>
          <p:cNvSpPr txBox="1"/>
          <p:nvPr/>
        </p:nvSpPr>
        <p:spPr>
          <a:xfrm>
            <a:off x="2532184" y="2431945"/>
            <a:ext cx="5528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CSA1007-SOFTWARE ENGINEERING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A9ED40-37BE-AD71-9445-AA8468E63EFB}"/>
              </a:ext>
            </a:extLst>
          </p:cNvPr>
          <p:cNvSpPr txBox="1"/>
          <p:nvPr/>
        </p:nvSpPr>
        <p:spPr>
          <a:xfrm>
            <a:off x="626013" y="3465081"/>
            <a:ext cx="22015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OF:-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P SUBRAMANIAM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9D9A41-E8C4-C3EF-505A-F43B57BF33E6}"/>
              </a:ext>
            </a:extLst>
          </p:cNvPr>
          <p:cNvSpPr txBox="1"/>
          <p:nvPr/>
        </p:nvSpPr>
        <p:spPr>
          <a:xfrm>
            <a:off x="5500662" y="3357358"/>
            <a:ext cx="28424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BY:-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ABARAJITHAN S(192521299)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851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B2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046720" y="137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02 / 05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 to Autonomous Vehicles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FFD1"/>
                </a:solidFill>
              </a:rPr>
              <a:t>SAE Levels of Autonomy &amp; Core Technologies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8503920" cy="685800"/>
          </a:xfrm>
          <a:prstGeom prst="roundRect">
            <a:avLst>
              <a:gd name="adj" fmla="val 13333"/>
            </a:avLst>
          </a:prstGeom>
          <a:solidFill>
            <a:srgbClr val="1A2144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</a:rPr>
              <a:t>Autonomous Vehicles (AVs) use AI, sensors, and software to navigate and operate without human intervention — spanning SAE Levels 0 (no automation) to Level 5 (full autonomy) across all conditions.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41830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20240"/>
            <a:ext cx="2743200" cy="73152"/>
          </a:xfrm>
          <a:prstGeom prst="rect">
            <a:avLst/>
          </a:prstGeom>
          <a:solidFill>
            <a:srgbClr val="7B2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1480" y="2057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📡 Perception Layer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2542032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</a:rPr>
              <a:t>LiDAR, RADAR, cameras, and ultrasonic sensors fuse data to create a 360° real-time map of the environment and detect objects at high speed.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92024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41830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920240"/>
            <a:ext cx="2743200" cy="7315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291840" y="2057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🧠 AI Decision Engine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2542032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</a:rPr>
              <a:t>Deep learning models process sensor data, predict behaviour of other road users, and generate safe driving decisions in milliseconds.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920240"/>
            <a:ext cx="2743200" cy="2651760"/>
          </a:xfrm>
          <a:prstGeom prst="roundRect">
            <a:avLst>
              <a:gd name="adj" fmla="val 4138"/>
            </a:avLst>
          </a:prstGeom>
          <a:solidFill>
            <a:srgbClr val="141830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920240"/>
            <a:ext cx="2743200" cy="73152"/>
          </a:xfrm>
          <a:prstGeom prst="rect">
            <a:avLst/>
          </a:prstGeom>
          <a:solidFill>
            <a:srgbClr val="00FFD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72200" y="2057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🛞 Control &amp; Actuation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2542032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</a:rPr>
              <a:t>High-precision actuators control steering, braking, and throttle based on AI commands, with redundant fail-safe mechanisms for safety.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D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FFD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046720" y="137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03 / 05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SAE Autonomy Levels &amp; ITS Framework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FFD1"/>
                </a:solidFill>
              </a:rPr>
              <a:t>From Driver Assistance to Full Self-Driving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1325880" cy="1737360"/>
          </a:xfrm>
          <a:prstGeom prst="roundRect">
            <a:avLst>
              <a:gd name="adj" fmla="val 6897"/>
            </a:avLst>
          </a:prstGeom>
          <a:solidFill>
            <a:srgbClr val="14183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097280"/>
            <a:ext cx="13258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8600" y="11887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</a:rPr>
              <a:t>L0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28600" y="16002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 Auto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74320" y="19202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Driver controls everything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91640" y="1097280"/>
            <a:ext cx="1325880" cy="1737360"/>
          </a:xfrm>
          <a:prstGeom prst="roundRect">
            <a:avLst>
              <a:gd name="adj" fmla="val 6897"/>
            </a:avLst>
          </a:prstGeom>
          <a:solidFill>
            <a:srgbClr val="14183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1640" y="1097280"/>
            <a:ext cx="13258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691640" y="11887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</a:rPr>
              <a:t>L1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16002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Assist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19202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Steering or braking aid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54680" y="1097280"/>
            <a:ext cx="1325880" cy="1737360"/>
          </a:xfrm>
          <a:prstGeom prst="roundRect">
            <a:avLst>
              <a:gd name="adj" fmla="val 6897"/>
            </a:avLst>
          </a:prstGeom>
          <a:solidFill>
            <a:srgbClr val="141830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1097280"/>
            <a:ext cx="1325880" cy="54864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154680" y="11887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8A04"/>
                </a:solidFill>
              </a:rPr>
              <a:t>L2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154680" y="16002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Partial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0" y="19202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Hands-off, eyes-on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17720" y="1097280"/>
            <a:ext cx="1325880" cy="1737360"/>
          </a:xfrm>
          <a:prstGeom prst="roundRect">
            <a:avLst>
              <a:gd name="adj" fmla="val 6897"/>
            </a:avLst>
          </a:prstGeom>
          <a:solidFill>
            <a:srgbClr val="14183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1097280"/>
            <a:ext cx="13258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17720" y="11887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9669"/>
                </a:solidFill>
              </a:rPr>
              <a:t>L3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17720" y="16002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Conditional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19202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Mind-off in conditions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80760" y="1097280"/>
            <a:ext cx="1325880" cy="1737360"/>
          </a:xfrm>
          <a:prstGeom prst="roundRect">
            <a:avLst>
              <a:gd name="adj" fmla="val 6897"/>
            </a:avLst>
          </a:prstGeom>
          <a:solidFill>
            <a:srgbClr val="1418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1097280"/>
            <a:ext cx="13258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080760" y="11887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</a:rPr>
              <a:t>L4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6080760" y="16002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126480" y="19202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No human needed locally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543800" y="1097280"/>
            <a:ext cx="1325880" cy="1737360"/>
          </a:xfrm>
          <a:prstGeom prst="roundRect">
            <a:avLst>
              <a:gd name="adj" fmla="val 6897"/>
            </a:avLst>
          </a:prstGeom>
          <a:solidFill>
            <a:srgbClr val="141830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43800" y="1097280"/>
            <a:ext cx="1325880" cy="54864"/>
          </a:xfrm>
          <a:prstGeom prst="rect">
            <a:avLst/>
          </a:prstGeom>
          <a:solidFill>
            <a:srgbClr val="7B2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543800" y="11887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B2FFF"/>
                </a:solidFill>
              </a:rPr>
              <a:t>L5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7543800" y="16002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Full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589520" y="19202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Complete autonomy always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28600" y="3017520"/>
            <a:ext cx="8686800" cy="1920240"/>
          </a:xfrm>
          <a:prstGeom prst="roundRect">
            <a:avLst>
              <a:gd name="adj" fmla="val 4762"/>
            </a:avLst>
          </a:prstGeom>
          <a:solidFill>
            <a:srgbClr val="1A2144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11480" y="31272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FFD1"/>
                </a:solidFill>
              </a:rPr>
              <a:t>🌐  Intelligent Transportation Systems (ITS)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11480" y="35478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C2FF"/>
                </a:solidFill>
              </a:rPr>
              <a:t>▸ V2X Comms: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1828800" y="35478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Vehicle-to-Everything: V2V, V2I, V2P, V2N connectivity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4709160" y="35478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C2FF"/>
                </a:solidFill>
              </a:rPr>
              <a:t>▸ Smart Traffic: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6126480" y="35478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AI-controlled signals, adaptive flow &amp; congestion prediction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411480" y="39867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C2FF"/>
                </a:solidFill>
              </a:rPr>
              <a:t>▸ Fleet Mgmt: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828800" y="39867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Real-time routing, platooning &amp; ride-sharing optimization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4709160" y="39867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C2FF"/>
                </a:solidFill>
              </a:rPr>
              <a:t>▸ Incident Mgmt: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6126480" y="39867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Automated crash detection, emergency response routing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B2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046720" y="137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04 / 05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AI &amp; ML in Autonomous Driving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B2FFF"/>
                </a:solidFill>
              </a:rPr>
              <a:t>Core Algorithms Powering Self-Driving Intelligence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4160520" cy="1783080"/>
          </a:xfrm>
          <a:prstGeom prst="roundRect">
            <a:avLst>
              <a:gd name="adj" fmla="val 6154"/>
            </a:avLst>
          </a:prstGeom>
          <a:solidFill>
            <a:srgbClr val="141830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97280"/>
            <a:ext cx="4160520" cy="64008"/>
          </a:xfrm>
          <a:prstGeom prst="rect">
            <a:avLst/>
          </a:prstGeom>
          <a:solidFill>
            <a:srgbClr val="7B2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👁️ Computer Vision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627632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CNNs and transformer models detect lanes, signs, pedestrians, and vehicles in real time using camera and LiDAR point-cloud data fusion.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160520" cy="1783080"/>
          </a:xfrm>
          <a:prstGeom prst="roundRect">
            <a:avLst>
              <a:gd name="adj" fmla="val 6154"/>
            </a:avLst>
          </a:prstGeom>
          <a:solidFill>
            <a:srgbClr val="141830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097280"/>
            <a:ext cx="4160520" cy="6400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🗺️ HD Mapping &amp; Localization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627632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Simultaneous Localization and Mapping (SLAM) combined with pre-built HD maps provides centimeter-level vehicle positioning.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4160520" cy="1783080"/>
          </a:xfrm>
          <a:prstGeom prst="roundRect">
            <a:avLst>
              <a:gd name="adj" fmla="val 6154"/>
            </a:avLst>
          </a:prstGeom>
          <a:solidFill>
            <a:srgbClr val="141830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017520"/>
            <a:ext cx="4160520" cy="64008"/>
          </a:xfrm>
          <a:prstGeom prst="rect">
            <a:avLst/>
          </a:prstGeom>
          <a:solidFill>
            <a:srgbClr val="00FFD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127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🔮 Predictive Planning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547872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Reinforcement learning and behavior prediction models anticipate actions of pedestrians, cyclists, and other vehicles up to 5 seconds ahead.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160520" cy="1783080"/>
          </a:xfrm>
          <a:prstGeom prst="roundRect">
            <a:avLst>
              <a:gd name="adj" fmla="val 6154"/>
            </a:avLst>
          </a:prstGeom>
          <a:solidFill>
            <a:srgbClr val="1418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017520"/>
            <a:ext cx="41605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46320" y="3127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🔗 Edge-Cloud AI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547872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Onboard edge inference handles real-time decisions while cloud AI continuously updates models using fleet-wide driving data.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663440"/>
            <a:ext cx="8503920" cy="347472"/>
          </a:xfrm>
          <a:prstGeom prst="roundRect">
            <a:avLst>
              <a:gd name="adj" fmla="val 21053"/>
            </a:avLst>
          </a:prstGeom>
          <a:solidFill>
            <a:srgbClr val="1A2144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" y="4690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FD1"/>
                </a:solidFill>
              </a:rPr>
              <a:t>  🚗  94% of crashes involve human error — AVs target near-zero accident rates   |   $7 trillion market by 2050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00FFD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0" y="137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05 / 05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Challenges &amp; Future Outlook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2FF"/>
                </a:solidFill>
              </a:rPr>
              <a:t>Key Players, Hurdles &amp; Tomorrow's Roads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3931920" cy="3611880"/>
          </a:xfrm>
          <a:prstGeom prst="roundRect">
            <a:avLst>
              <a:gd name="adj" fmla="val 3038"/>
            </a:avLst>
          </a:prstGeom>
          <a:solidFill>
            <a:srgbClr val="141830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3931920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1143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 Key Challenges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1581912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1A21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15819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D1"/>
                </a:solidFill>
              </a:rPr>
              <a:t>Safety &amp; Liability: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15819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Who is responsible in an AV accident?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8912" y="2020824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1A214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" y="202082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D1"/>
                </a:solidFill>
              </a:rPr>
              <a:t>Edge Cases: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011680" y="20208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Rare scenarios that training data may miss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" y="2459736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1A214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245973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D1"/>
                </a:solidFill>
              </a:rPr>
              <a:t>Cybersecurity: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24597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Protecting vehicle networks from attacks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8912" y="2898648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1A214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28986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D1"/>
                </a:solidFill>
              </a:rPr>
              <a:t>Regulation: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2011680" y="28986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Varied global legal frameworks for AVs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8912" y="3337560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1A21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3337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D1"/>
                </a:solidFill>
              </a:rPr>
              <a:t>Public Trust: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Building confidence in AI-driven vehicles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8912" y="3776472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1A214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66928" y="3776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D1"/>
                </a:solidFill>
              </a:rPr>
              <a:t>Infrastructure: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2011680" y="3776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Roads &amp; signals must support V2X comms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8912" y="4215384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1A214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66928" y="42153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D1"/>
                </a:solidFill>
              </a:rPr>
              <a:t>Cost: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2011680" y="42153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LiDAR and compute hardware remain expensive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1051560"/>
            <a:ext cx="4389120" cy="3611880"/>
          </a:xfrm>
          <a:prstGeom prst="roundRect">
            <a:avLst>
              <a:gd name="adj" fmla="val 3038"/>
            </a:avLst>
          </a:prstGeom>
          <a:solidFill>
            <a:srgbClr val="141830"/>
          </a:solidFill>
          <a:ln w="12700">
            <a:solidFill>
              <a:srgbClr val="00FF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34840" y="1051560"/>
            <a:ext cx="4389120" cy="54864"/>
          </a:xfrm>
          <a:prstGeom prst="rect">
            <a:avLst/>
          </a:prstGeom>
          <a:solidFill>
            <a:srgbClr val="00FFD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72000" y="1143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Key Takeaways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0" y="1581912"/>
            <a:ext cx="228600" cy="228600"/>
          </a:xfrm>
          <a:prstGeom prst="roundRect">
            <a:avLst>
              <a:gd name="adj" fmla="val 24000"/>
            </a:avLst>
          </a:prstGeom>
          <a:solidFill>
            <a:srgbClr val="00FFD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892040" y="156362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AVs combine AI, sensor fusion, and V2X to transform road safety and mobility.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0" y="2176272"/>
            <a:ext cx="228600" cy="228600"/>
          </a:xfrm>
          <a:prstGeom prst="roundRect">
            <a:avLst>
              <a:gd name="adj" fmla="val 24000"/>
            </a:avLst>
          </a:prstGeom>
          <a:solidFill>
            <a:srgbClr val="00FFD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892040" y="215798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SAE Levels 1–5 define a clear roadmap from driver assistance to full automation.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0" y="2770632"/>
            <a:ext cx="228600" cy="228600"/>
          </a:xfrm>
          <a:prstGeom prst="roundRect">
            <a:avLst>
              <a:gd name="adj" fmla="val 24000"/>
            </a:avLst>
          </a:prstGeom>
          <a:solidFill>
            <a:srgbClr val="00FFD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892040" y="275234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ITS infrastructure — smart signals, HD maps, edge computing — is essential for AVs.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0" y="3364992"/>
            <a:ext cx="228600" cy="228600"/>
          </a:xfrm>
          <a:prstGeom prst="roundRect">
            <a:avLst>
              <a:gd name="adj" fmla="val 24000"/>
            </a:avLst>
          </a:prstGeom>
          <a:solidFill>
            <a:srgbClr val="00FFD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892040" y="334670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AI breakthroughs in vision, SLAM, and RL are driving rapid AV capability gains.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0" y="3959352"/>
            <a:ext cx="228600" cy="228600"/>
          </a:xfrm>
          <a:prstGeom prst="roundRect">
            <a:avLst>
              <a:gd name="adj" fmla="val 24000"/>
            </a:avLst>
          </a:prstGeom>
          <a:solidFill>
            <a:srgbClr val="00FFD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892040" y="394106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</a:rPr>
              <a:t>Ethical, legal, and cybersecurity frameworks must evolve alongside the technology.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ABARAJITHAN  •  Reg: 192521299  •  Software Engineering  •  CSA1007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564</Words>
  <Application>Microsoft Office PowerPoint</Application>
  <PresentationFormat>On-screen Show (16:9)</PresentationFormat>
  <Paragraphs>87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faraj p</cp:lastModifiedBy>
  <cp:revision>2</cp:revision>
  <dcterms:created xsi:type="dcterms:W3CDTF">2026-08-29T06:16:35Z</dcterms:created>
  <dcterms:modified xsi:type="dcterms:W3CDTF">2026-08-29T06:23:25Z</dcterms:modified>
</cp:coreProperties>
</file>